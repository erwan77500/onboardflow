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Merriweather" panose="00000500000000000000" pitchFamily="2" charset="0"/>
      <p:regular r:id="rId14"/>
      <p:bold r:id="rId15"/>
      <p:italic r:id="rId16"/>
      <p:boldItalic r:id="rId17"/>
    </p:embeddedFont>
    <p:embeddedFont>
      <p:font typeface="Plus Jakarta Sans" panose="020B0604020202020204" charset="0"/>
      <p:regular r:id="rId18"/>
      <p:bold r:id="rId19"/>
      <p:italic r:id="rId20"/>
      <p:boldItalic r:id="rId21"/>
    </p:embeddedFont>
    <p:embeddedFont>
      <p:font typeface="Plus Jakarta Sans Medium" panose="020B0604020202020204" charset="0"/>
      <p:regular r:id="rId22"/>
      <p:bold r:id="rId23"/>
      <p:italic r:id="rId24"/>
      <p:boldItalic r:id="rId25"/>
    </p:embeddedFont>
    <p:embeddedFont>
      <p:font typeface="Plus Jakarta Sans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E18A5F-A402-42D1-A76E-86ECD05A79CF}">
  <a:tblStyle styleId="{5BE18A5F-A402-42D1-A76E-86ECD05A79C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0" y="4195762"/>
            <a:ext cx="4762500" cy="102274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63949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PROJET DE DIPLÔME NO-CODE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95300" y="2068115"/>
            <a:ext cx="11201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OnboardFlow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049190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Définition et pilotage d'une solution d'onboarding intelligente pour PME sans DRH dédié, intégrant l'IA générative.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714750" y="4491037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Présenté par : Erwan NKONGO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714750" y="4742408"/>
            <a:ext cx="47625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for Business Bootcamp • PSTB Mai 2026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714750" y="5035748"/>
            <a:ext cx="476250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Inspiré du fichier projet : Projet_OnboardFlow_v2.docx</a:t>
            </a:r>
            <a:endParaRPr/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95762" y="1677590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64631"/>
            <a:ext cx="519112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764631"/>
            <a:ext cx="519112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5850" y="4002881"/>
            <a:ext cx="45815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2725" y="4002881"/>
            <a:ext cx="45815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068050" y="6143625"/>
            <a:ext cx="361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600075"/>
            <a:ext cx="1666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85850" y="3050381"/>
            <a:ext cx="481060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Une Réalité Critique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85850" y="3402806"/>
            <a:ext cx="4581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765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Dans les PME de 10 à 50 salariés, l'onboarding est géré à la main (emails éparpillés, documents égarés, managers débordés).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62725" y="3050381"/>
            <a:ext cx="481060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La Niche Cible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62725" y="3402806"/>
            <a:ext cx="4581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765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Les PME n’ont ni DRH dédié ni accès aux solutions de marché (Lucca, BambooHR) facturées entre 300 € et 800 €/mois.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5850" y="307895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62725" y="307895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1966912" y="571500"/>
            <a:ext cx="94630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OnboardFlow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 Problème &amp; Cible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762000" y="1066800"/>
            <a:ext cx="112014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Le Chaos de l'Onboarding en PME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3106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1068050" y="6143625"/>
            <a:ext cx="361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3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00075"/>
            <a:ext cx="1666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2100113"/>
            <a:ext cx="5350668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L'intégralité du parcours d'intégration, automatisé en moins de 1h.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1993106"/>
            <a:ext cx="50958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1047750" y="2983855"/>
            <a:ext cx="48101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Parcours J-7 à J+30 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Prise en charge automatique dès la signature du contrat.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47750" y="3614291"/>
            <a:ext cx="48101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Intelligence Artificielle 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Emails et analyses de retour automatisés par GPT-4o-mini.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47750" y="4244726"/>
            <a:ext cx="48101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Zéro Friction 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Configuration clé en main ne demandant aucune expertise technique.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47750" y="4875162"/>
            <a:ext cx="48101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Économique 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Une tarification fixe à 59 €/mois parfaitement adaptée aux budgets PME.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62000" y="300290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62000" y="363334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62000" y="426377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62000" y="4894212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966912" y="571500"/>
            <a:ext cx="94630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OnboardFlow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Proposition de Valeur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762000" y="1066800"/>
            <a:ext cx="112014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Faire de l'Onboarding un Levier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76202"/>
            <a:ext cx="3397299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476202"/>
            <a:ext cx="3397299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2476202"/>
            <a:ext cx="3397299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1058525" y="614362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4</a:t>
            </a:r>
            <a:endParaRPr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600075"/>
            <a:ext cx="1666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74825" y="281910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937100" y="3581102"/>
            <a:ext cx="304709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Admin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09650" y="3933527"/>
            <a:ext cx="2901999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Suivi en temps réel du statut de chaque nouvel arrivant (vert/orange/rouge) pour désamorcer les frictions immédiatement.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10250" y="281910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4572524" y="3581102"/>
            <a:ext cx="304709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Briques IA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645074" y="3933527"/>
            <a:ext cx="2901999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Rédaction d’emails d’onboarding hyper-personnalisés et résumé prédictif du feedback NPS pour éliminer les départs précoces.</a:t>
            </a:r>
            <a:endParaRPr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45674" y="281910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8207949" y="3581102"/>
            <a:ext cx="304709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 Complet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280499" y="3933527"/>
            <a:ext cx="2901999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 unifiée incluant signature électronique (DocuSeal), séquences emails automatiques et espace de progression salarié.</a:t>
            </a:r>
            <a:endParaRPr/>
          </a:p>
        </p:txBody>
      </p:sp>
      <p:pic>
        <p:nvPicPr>
          <p:cNvPr id="156" name="Google Shape;156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346275" y="299055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953125" y="299055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588549" y="299055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1966912" y="571500"/>
            <a:ext cx="94630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OnboardFlow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Périmètre Fonctionnel MVP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762000" y="1066800"/>
            <a:ext cx="112014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Périmètre Fonctionnel du MVP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038850"/>
            <a:ext cx="5095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1966912" y="571500"/>
            <a:ext cx="389096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OnboardFlow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Brique IA #1 — Personnalisation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762000" y="8667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1019175"/>
            <a:ext cx="5350668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Accueil IA Générative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495925" y="6143625"/>
            <a:ext cx="361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5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762000" y="1519237"/>
            <a:ext cx="5350668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2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Emails d'Onboarding Uniques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62000" y="1809750"/>
            <a:ext cx="50958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Génération automatique d'emails de bienvenue hyper-personnalisés selon le poste, le service et le style du manager en temps réel.</a:t>
            </a:r>
            <a:endParaRPr/>
          </a:p>
        </p:txBody>
      </p:sp>
      <p:pic>
        <p:nvPicPr>
          <p:cNvPr id="175" name="Google Shape;17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00075"/>
            <a:ext cx="1666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153828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1047750" y="2379166"/>
            <a:ext cx="4810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Moteur :</a:t>
            </a: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GPT-4o-mini via API OpenAI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047750" y="2653456"/>
            <a:ext cx="4810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Coût :</a:t>
            </a: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~0,10 € par onboarding complet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047750" y="2927746"/>
            <a:ext cx="4810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 :</a:t>
            </a: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Déclenché via scénario Make.com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62000" y="239821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62000" y="267250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762000" y="2946796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11068050" y="6143625"/>
            <a:ext cx="361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6</a:t>
            </a:r>
            <a:endParaRPr/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00075"/>
            <a:ext cx="1666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952500" y="3097857"/>
            <a:ext cx="471487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0D9488"/>
                </a:solidFill>
                <a:latin typeface="Merriweather"/>
                <a:ea typeface="Merriweather"/>
                <a:cs typeface="Merriweather"/>
                <a:sym typeface="Merriweather"/>
              </a:rPr>
              <a:t>6 000€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52500" y="4240857"/>
            <a:ext cx="47148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Économisés par Salarié Retenu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334125" y="2237184"/>
            <a:ext cx="5350668" cy="22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Analyse Sémantique Predictive du NPS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334125" y="2602855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À J+30, le nouvel arrivant répond à une enquête de satisfaction. OnboardFlow utilise l’IA pour transformer les verbatims en alertes concrètes pour les dirigeants :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619875" y="3477071"/>
            <a:ext cx="48101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Analyse instantanée 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Extraction automatique des points positifs et axes d'amélioration.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619875" y="4107507"/>
            <a:ext cx="48101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Indice d'alerte 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Attribution d'un score de risque de départ (Faible / Moyen / Élevé).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619875" y="4737943"/>
            <a:ext cx="48101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Actionnable 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Recommandation immédiate pour sauver le recrutement avant la rupture.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334125" y="3496121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334125" y="4126557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334125" y="4756993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966912" y="571500"/>
            <a:ext cx="94630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OnboardFlow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Brique IA #2 — Rétention Prédictive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762000" y="1066800"/>
            <a:ext cx="112014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Anticiper les Risques de Départ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98055"/>
            <a:ext cx="10668000" cy="3009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11068050" y="6143625"/>
            <a:ext cx="361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7</a:t>
            </a:r>
            <a:endParaRPr/>
          </a:p>
        </p:txBody>
      </p:sp>
      <p:pic>
        <p:nvPicPr>
          <p:cNvPr id="212" name="Google Shape;21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00075"/>
            <a:ext cx="166687" cy="152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" name="Google Shape;213;p19"/>
          <p:cNvGraphicFramePr/>
          <p:nvPr/>
        </p:nvGraphicFramePr>
        <p:xfrm>
          <a:off x="771525" y="2307580"/>
          <a:ext cx="10648975" cy="2990400"/>
        </p:xfrm>
        <a:graphic>
          <a:graphicData uri="http://schemas.openxmlformats.org/drawingml/2006/table">
            <a:tbl>
              <a:tblPr firstRow="1" bandRow="1">
                <a:noFill/>
                <a:tableStyleId>{5BE18A5F-A402-42D1-A76E-86ECD05A79CF}</a:tableStyleId>
              </a:tblPr>
              <a:tblGrid>
                <a:gridCol w="179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Brique Technique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Outil Utilisé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Rôle au sein d'OnboardFlow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Souveraineté &amp; RGPD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Interface Applicative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Base44 (No-code)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Espace administrateur et portail d'intégration salarié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Hébergement natif inclus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Moteur d’Automates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Make.com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Orchestrateur des flux de données et événements (J-7 à J+30)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Hébergement Europe (RGPD)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Routage Emails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Brevo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Envoi des notifications, rappels et messages de bienvenue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Serveurs hébergés en France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Modèle de Langage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API OpenAI (GPT-4o-mini)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Personnalisation des emails et synthèse des alertes RH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API Pay-as-you-go ultra-scalable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Signature Légale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DocuSeal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Émission et signature électronique sécurisée du contrat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Données hébergées localement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4" name="Google Shape;214;p19"/>
          <p:cNvSpPr/>
          <p:nvPr/>
        </p:nvSpPr>
        <p:spPr>
          <a:xfrm>
            <a:off x="771525" y="2831455"/>
            <a:ext cx="179724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2568773" y="2831455"/>
            <a:ext cx="204847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4617243" y="2831455"/>
            <a:ext cx="429041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8907660" y="2831455"/>
            <a:ext cx="251281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771525" y="3335238"/>
            <a:ext cx="17972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2568773" y="3335238"/>
            <a:ext cx="2048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4617243" y="3335238"/>
            <a:ext cx="4290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8907660" y="3335238"/>
            <a:ext cx="2512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771525" y="3824733"/>
            <a:ext cx="17972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2568773" y="3824733"/>
            <a:ext cx="2048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4617243" y="3824733"/>
            <a:ext cx="4290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8907660" y="3824733"/>
            <a:ext cx="2512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771525" y="4314229"/>
            <a:ext cx="17972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2568773" y="4314229"/>
            <a:ext cx="2048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4617243" y="4314229"/>
            <a:ext cx="4290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8907660" y="4314229"/>
            <a:ext cx="2512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771525" y="4803725"/>
            <a:ext cx="17972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2568773" y="4803725"/>
            <a:ext cx="20484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617243" y="4803725"/>
            <a:ext cx="4290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8907660" y="4803725"/>
            <a:ext cx="2512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1966912" y="571500"/>
            <a:ext cx="94630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OnboardFlow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Outils &amp; Stack No-Code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762000" y="1066800"/>
            <a:ext cx="112014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Une Architecture Agile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15306"/>
            <a:ext cx="10668000" cy="317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11058525" y="614362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8</a:t>
            </a:r>
            <a:endParaRPr/>
          </a:p>
        </p:txBody>
      </p:sp>
      <p:pic>
        <p:nvPicPr>
          <p:cNvPr id="245" name="Google Shape;24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00075"/>
            <a:ext cx="166687" cy="152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" name="Google Shape;246;p20"/>
          <p:cNvGraphicFramePr/>
          <p:nvPr/>
        </p:nvGraphicFramePr>
        <p:xfrm>
          <a:off x="771525" y="2224831"/>
          <a:ext cx="10648975" cy="3156025"/>
        </p:xfrm>
        <a:graphic>
          <a:graphicData uri="http://schemas.openxmlformats.org/drawingml/2006/table">
            <a:tbl>
              <a:tblPr firstRow="1" bandRow="1">
                <a:noFill/>
                <a:tableStyleId>{5BE18A5F-A402-42D1-A76E-86ECD05A79CF}</a:tableStyleId>
              </a:tblPr>
              <a:tblGrid>
                <a:gridCol w="126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8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Solution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Cible Principale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Tarification Standard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Différenciation OnboardFlow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Workelo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Entreprises 200+ (DRH structurée)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200 € - 500 € / mois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Hors budget PME — déploiement 2-4 semaines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HeyTeam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PME-ETI, admin RH requis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150 € - 300 € / mois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Interface complexe sans DRH — per-user coûteux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Cocoon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Expérience salarié globale (pas uniquement onboarding)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Tarif sur devis (élevé)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Périmètre trop large et inadapté pour les structures de 10-50 salariés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D94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OnboardFlow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PME 10 - 50 sans DRH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D948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59 € / mois (Fixe)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✅ Opérationnel en 1 heure, forfait unique fixe, briques d'IA intégrées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7" name="Google Shape;247;p20"/>
          <p:cNvSpPr/>
          <p:nvPr/>
        </p:nvSpPr>
        <p:spPr>
          <a:xfrm>
            <a:off x="771525" y="2977306"/>
            <a:ext cx="12668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2038350" y="2977306"/>
            <a:ext cx="346829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5506640" y="2977306"/>
            <a:ext cx="172536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7232005" y="2977306"/>
            <a:ext cx="418846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771525" y="3481089"/>
            <a:ext cx="1266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2038350" y="3481089"/>
            <a:ext cx="34682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506640" y="3481089"/>
            <a:ext cx="1725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7232005" y="3481089"/>
            <a:ext cx="4188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771525" y="3970585"/>
            <a:ext cx="1266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2038350" y="3970585"/>
            <a:ext cx="34682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5506640" y="3970585"/>
            <a:ext cx="1725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7232005" y="3970585"/>
            <a:ext cx="4188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771525" y="4673351"/>
            <a:ext cx="1266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2038350" y="4673351"/>
            <a:ext cx="34682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5506640" y="4673351"/>
            <a:ext cx="17253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7232005" y="4673351"/>
            <a:ext cx="4188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1966912" y="571500"/>
            <a:ext cx="94630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OnboardFlow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Analyse Concurrentielle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762000" y="1066800"/>
            <a:ext cx="112014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Un Positionnement Unique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02842"/>
            <a:ext cx="10668000" cy="260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11068050" y="6143625"/>
            <a:ext cx="361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9</a:t>
            </a:r>
            <a:endParaRPr/>
          </a:p>
        </p:txBody>
      </p:sp>
      <p:pic>
        <p:nvPicPr>
          <p:cNvPr id="274" name="Google Shape;27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00075"/>
            <a:ext cx="1666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 txBox="1"/>
          <p:nvPr/>
        </p:nvSpPr>
        <p:spPr>
          <a:xfrm>
            <a:off x="762000" y="2502842"/>
            <a:ext cx="54006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Une Économie d'Échelle Exceptionnelle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762000" y="288384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Grâce aux modèles No-code et aux faibles coûts de l'API OpenAI (GPT-4o-mini), l'infrastructure technique ne pèse quasiment pas sur la rentabilité.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047750" y="3455342"/>
            <a:ext cx="4857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Démarrage 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Zéro coût d'infrastructure fixe.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1047750" y="3841998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Rentabilité immédiate 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Marge brute supérieure à 74 % dès le premier client validé.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1047750" y="4472433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Mise à l'échelle 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Optimisation à 98 % de marge brute à partir de 50 clients payants.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762000" y="3474392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762000" y="3861048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762000" y="4491483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1966912" y="571500"/>
            <a:ext cx="94630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OnboardFlow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Modèle Économique &amp; Rentabilité</a:t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762000" y="1066800"/>
            <a:ext cx="112014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Viabilité &amp; Forte Marge Brute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5950" y="335949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2950" y="335949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19950" y="335949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86950" y="335949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11010900" y="614362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10</a:t>
            </a:r>
            <a:endParaRPr/>
          </a:p>
        </p:txBody>
      </p:sp>
      <p:pic>
        <p:nvPicPr>
          <p:cNvPr id="297" name="Google Shape;297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600075"/>
            <a:ext cx="1666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/>
          <p:nvPr/>
        </p:nvSpPr>
        <p:spPr>
          <a:xfrm>
            <a:off x="1295400" y="3569047"/>
            <a:ext cx="9601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845343" y="3969097"/>
            <a:ext cx="250031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Recherche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904875" y="4259609"/>
            <a:ext cx="23812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Interviews d'office managers &amp; benchmark solutions existantes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3512343" y="3969097"/>
            <a:ext cx="250031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Validation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3571875" y="4259609"/>
            <a:ext cx="23812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Landing page (Carrd.co) &amp; pré-ventes LinkedIn (Objectif : 5 clients)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6179343" y="3969097"/>
            <a:ext cx="250031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MVP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6238875" y="4259609"/>
            <a:ext cx="23812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Construction des flows Make, API OpenAI &amp; interface Base44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8846343" y="3969097"/>
            <a:ext cx="250031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Déploiement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8905875" y="4259609"/>
            <a:ext cx="23812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Configuration personnalisée en 1h et itérations hebdomadaires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1966912" y="571500"/>
            <a:ext cx="94630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OnboardFlow</a:t>
            </a:r>
            <a:r>
              <a:rPr lang="en-US"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Planification &amp; Roadmap</a:t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762000" y="914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762000" y="1066800"/>
            <a:ext cx="11201400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Roadmap de Validation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125" y="4236690"/>
            <a:ext cx="3333750" cy="64368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 txBox="1"/>
          <p:nvPr/>
        </p:nvSpPr>
        <p:spPr>
          <a:xfrm>
            <a:off x="762000" y="1977479"/>
            <a:ext cx="10668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D94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FIN DE PRÉSENTATION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495300" y="2387054"/>
            <a:ext cx="11201400" cy="7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Place aux questions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2762250" y="3307109"/>
            <a:ext cx="66675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Merci pour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votre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attention. </a:t>
            </a:r>
            <a:endParaRPr dirty="0"/>
          </a:p>
        </p:txBody>
      </p:sp>
      <p:sp>
        <p:nvSpPr>
          <p:cNvPr id="319" name="Google Shape;319;p23"/>
          <p:cNvSpPr txBox="1"/>
          <p:nvPr/>
        </p:nvSpPr>
        <p:spPr>
          <a:xfrm>
            <a:off x="4429125" y="4484340"/>
            <a:ext cx="3333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OnboardFlow • Projet de Certification No-Code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4429125" y="4697610"/>
            <a:ext cx="33337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for Business • Erwan NKONGO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821</Words>
  <Application>Microsoft Office PowerPoint</Application>
  <PresentationFormat>Grand écran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Merriweather</vt:lpstr>
      <vt:lpstr>Plus Jakarta Sans SemiBold</vt:lpstr>
      <vt:lpstr>Plus Jakarta Sans Medium</vt:lpstr>
      <vt:lpstr>Arial</vt:lpstr>
      <vt:lpstr>Calibri</vt:lpstr>
      <vt:lpstr>Plus Jakarta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NKONGO Erwan</dc:creator>
  <cp:lastModifiedBy>Erwan NKONGO</cp:lastModifiedBy>
  <cp:revision>1</cp:revision>
  <dcterms:modified xsi:type="dcterms:W3CDTF">2026-06-08T06:43:57Z</dcterms:modified>
</cp:coreProperties>
</file>